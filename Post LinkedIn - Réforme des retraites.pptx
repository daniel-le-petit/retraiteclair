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6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2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66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167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3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75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21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6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15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8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4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21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16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etraiteclair.onrende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41865"/>
            <a:ext cx="12192000" cy="74447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 smtClean="0">
                <a:solidFill>
                  <a:schemeClr val="bg1"/>
                </a:solidFill>
              </a:rPr>
              <a:t>    </a:t>
            </a:r>
            <a:r>
              <a:rPr lang="fr-FR" sz="4400" dirty="0" smtClean="0">
                <a:solidFill>
                  <a:srgbClr val="002060"/>
                </a:solidFill>
                <a:latin typeface="Montserrat SemiBold" panose="00000700000000000000" pitchFamily="2" charset="0"/>
              </a:rPr>
              <a:t>Réforme </a:t>
            </a:r>
            <a:r>
              <a:rPr lang="fr-FR" sz="4400" dirty="0">
                <a:solidFill>
                  <a:srgbClr val="002060"/>
                </a:solidFill>
                <a:latin typeface="Montserrat SemiBold" panose="00000700000000000000" pitchFamily="2" charset="0"/>
              </a:rPr>
              <a:t>des retraites </a:t>
            </a:r>
            <a:r>
              <a:rPr lang="fr-FR" sz="4400" dirty="0" smtClean="0">
                <a:solidFill>
                  <a:srgbClr val="002060"/>
                </a:solidFill>
                <a:latin typeface="Montserrat SemiBold" panose="00000700000000000000" pitchFamily="2" charset="0"/>
              </a:rPr>
              <a:t/>
            </a:r>
            <a:br>
              <a:rPr lang="fr-FR" sz="4400" dirty="0" smtClean="0">
                <a:solidFill>
                  <a:srgbClr val="002060"/>
                </a:solidFill>
                <a:latin typeface="Montserrat SemiBold" panose="00000700000000000000" pitchFamily="2" charset="0"/>
              </a:rPr>
            </a:br>
            <a:r>
              <a:rPr lang="fr-FR" sz="4400" dirty="0" smtClean="0">
                <a:solidFill>
                  <a:srgbClr val="002060"/>
                </a:solidFill>
                <a:latin typeface="Montserrat SemiBold" panose="00000700000000000000" pitchFamily="2" charset="0"/>
              </a:rPr>
              <a:t>    suspendue </a:t>
            </a:r>
            <a:r>
              <a:rPr lang="fr-FR" sz="4400" dirty="0">
                <a:solidFill>
                  <a:srgbClr val="002060"/>
                </a:solidFill>
                <a:latin typeface="Montserrat SemiBold" panose="00000700000000000000" pitchFamily="2" charset="0"/>
              </a:rPr>
              <a:t>: et maintenant ?</a:t>
            </a:r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9097963" cy="4195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dirty="0">
                <a:solidFill>
                  <a:srgbClr val="002060"/>
                </a:solidFill>
                <a:latin typeface="Montserrat" panose="00000500000000000000" pitchFamily="2" charset="0"/>
              </a:rPr>
              <a:t>Une décision </a:t>
            </a:r>
            <a:r>
              <a:rPr lang="fr-FR" sz="3200" dirty="0">
                <a:solidFill>
                  <a:srgbClr val="002060"/>
                </a:solidFill>
                <a:latin typeface="Montserrat" panose="00000500000000000000" pitchFamily="2" charset="0"/>
              </a:rPr>
              <a:t>politique qui relance toutes les questions</a:t>
            </a:r>
            <a:r>
              <a:rPr lang="fr-FR" sz="3200" dirty="0" smtClean="0">
                <a:solidFill>
                  <a:srgbClr val="002060"/>
                </a:solidFill>
                <a:latin typeface="Montserrat" panose="00000500000000000000" pitchFamily="2" charset="0"/>
              </a:rPr>
              <a:t>…</a:t>
            </a:r>
          </a:p>
          <a:p>
            <a:endParaRPr lang="fr-FR" sz="1400" dirty="0" smtClean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rgbClr val="002060"/>
                </a:solidFill>
                <a:latin typeface="Montserrat" panose="00000500000000000000" pitchFamily="2" charset="0"/>
              </a:rPr>
              <a:t>Retraite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rgbClr val="002060"/>
                </a:solidFill>
                <a:latin typeface="Montserrat" panose="00000500000000000000" pitchFamily="2" charset="0"/>
              </a:rPr>
              <a:t>Âge légal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rgbClr val="002060"/>
                </a:solidFill>
                <a:latin typeface="Montserrat" panose="00000500000000000000" pitchFamily="2" charset="0"/>
              </a:rPr>
              <a:t>Pouvoir d’achat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2400" dirty="0" smtClean="0">
                <a:solidFill>
                  <a:srgbClr val="002060"/>
                </a:solidFill>
                <a:latin typeface="Montserrat" panose="00000500000000000000" pitchFamily="2" charset="0"/>
              </a:rPr>
              <a:t>Anticipation</a:t>
            </a:r>
            <a:endParaRPr lang="fr-FR" sz="24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endParaRPr lang="fr-FR" sz="14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48" y="588515"/>
            <a:ext cx="518989" cy="48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2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chemeClr val="accent1">
                <a:lumMod val="5000"/>
                <a:lumOff val="95000"/>
              </a:schemeClr>
            </a:gs>
            <a:gs pos="94000">
              <a:schemeClr val="bg1">
                <a:lumMod val="85000"/>
              </a:schemeClr>
            </a:gs>
            <a:gs pos="89000">
              <a:schemeClr val="bg1">
                <a:lumMod val="8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667" y="337839"/>
            <a:ext cx="5668166" cy="4277322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743451" y="4283142"/>
            <a:ext cx="4733924" cy="1519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b="1" dirty="0" smtClean="0">
                <a:solidFill>
                  <a:srgbClr val="002060"/>
                </a:solidFill>
              </a:rPr>
              <a:t>Objectif : </a:t>
            </a:r>
            <a:br>
              <a:rPr lang="fr-FR" b="1" dirty="0" smtClean="0">
                <a:solidFill>
                  <a:srgbClr val="002060"/>
                </a:solidFill>
              </a:rPr>
            </a:br>
            <a:r>
              <a:rPr lang="fr-FR" dirty="0" smtClean="0">
                <a:solidFill>
                  <a:srgbClr val="002060"/>
                </a:solidFill>
              </a:rPr>
              <a:t>Apaiser le climat social </a:t>
            </a:r>
            <a:br>
              <a:rPr lang="fr-FR" dirty="0" smtClean="0">
                <a:solidFill>
                  <a:srgbClr val="002060"/>
                </a:solidFill>
              </a:rPr>
            </a:br>
            <a:r>
              <a:rPr lang="fr-FR" dirty="0" smtClean="0">
                <a:solidFill>
                  <a:srgbClr val="002060"/>
                </a:solidFill>
              </a:rPr>
              <a:t>avant la présidentielle </a:t>
            </a:r>
            <a:br>
              <a:rPr lang="fr-FR" dirty="0" smtClean="0">
                <a:solidFill>
                  <a:srgbClr val="002060"/>
                </a:solidFill>
              </a:rPr>
            </a:b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576195" y="4340709"/>
            <a:ext cx="3663430" cy="12902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b="1" dirty="0" smtClean="0">
                <a:solidFill>
                  <a:srgbClr val="002060"/>
                </a:solidFill>
              </a:rPr>
              <a:t>Conséquence : </a:t>
            </a:r>
            <a:br>
              <a:rPr lang="fr-FR" b="1" dirty="0" smtClean="0">
                <a:solidFill>
                  <a:srgbClr val="002060"/>
                </a:solidFill>
              </a:rPr>
            </a:br>
            <a:r>
              <a:rPr lang="fr-FR" dirty="0" smtClean="0">
                <a:solidFill>
                  <a:srgbClr val="002060"/>
                </a:solidFill>
              </a:rPr>
              <a:t>Retour à une période </a:t>
            </a:r>
            <a:br>
              <a:rPr lang="fr-FR" dirty="0" smtClean="0">
                <a:solidFill>
                  <a:srgbClr val="002060"/>
                </a:solidFill>
              </a:rPr>
            </a:br>
            <a:r>
              <a:rPr lang="fr-FR" dirty="0" smtClean="0">
                <a:solidFill>
                  <a:srgbClr val="002060"/>
                </a:solidFill>
              </a:rPr>
              <a:t>d’incertitude</a:t>
            </a:r>
            <a:br>
              <a:rPr lang="fr-FR" dirty="0" smtClean="0">
                <a:solidFill>
                  <a:srgbClr val="002060"/>
                </a:solidFill>
              </a:rPr>
            </a:b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600" dirty="0" smtClean="0">
                <a:solidFill>
                  <a:schemeClr val="bg1"/>
                </a:solidFill>
              </a:rPr>
              <a:t>    </a:t>
            </a:r>
            <a:r>
              <a:rPr lang="fr-FR" sz="4400" dirty="0">
                <a:solidFill>
                  <a:srgbClr val="002060"/>
                </a:solidFill>
              </a:rPr>
              <a:t>Ce qui change</a:t>
            </a:r>
            <a:endParaRPr lang="fr-FR" sz="4400" dirty="0">
              <a:solidFill>
                <a:srgbClr val="002060"/>
              </a:solidFill>
              <a:latin typeface="Montserrat SemiBold" panose="00000700000000000000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79" y="616795"/>
            <a:ext cx="544134" cy="429579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1103312" y="2060575"/>
            <a:ext cx="9097963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200" dirty="0">
                <a:solidFill>
                  <a:srgbClr val="002060"/>
                </a:solidFill>
              </a:rPr>
              <a:t>Le gouvernement suspend la </a:t>
            </a:r>
            <a:br>
              <a:rPr lang="fr-FR" sz="3200" dirty="0">
                <a:solidFill>
                  <a:srgbClr val="002060"/>
                </a:solidFill>
              </a:rPr>
            </a:br>
            <a:r>
              <a:rPr lang="fr-FR" sz="3200" dirty="0">
                <a:solidFill>
                  <a:srgbClr val="002060"/>
                </a:solidFill>
              </a:rPr>
              <a:t>réforme qui devait porter </a:t>
            </a:r>
            <a:r>
              <a:rPr lang="fr-FR" sz="3200" dirty="0" smtClean="0">
                <a:solidFill>
                  <a:srgbClr val="002060"/>
                </a:solidFill>
              </a:rPr>
              <a:t/>
            </a:r>
            <a:br>
              <a:rPr lang="fr-FR" sz="3200" dirty="0" smtClean="0">
                <a:solidFill>
                  <a:srgbClr val="002060"/>
                </a:solidFill>
              </a:rPr>
            </a:br>
            <a:r>
              <a:rPr lang="fr-FR" sz="3200" dirty="0" smtClean="0">
                <a:solidFill>
                  <a:srgbClr val="002060"/>
                </a:solidFill>
              </a:rPr>
              <a:t>l’âge légal </a:t>
            </a:r>
            <a:r>
              <a:rPr lang="fr-FR" sz="3200" dirty="0">
                <a:solidFill>
                  <a:srgbClr val="002060"/>
                </a:solidFill>
              </a:rPr>
              <a:t>à 64 ans</a:t>
            </a:r>
          </a:p>
          <a:p>
            <a:endParaRPr lang="fr-F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85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4400" dirty="0" smtClean="0">
                <a:solidFill>
                  <a:srgbClr val="002060"/>
                </a:solidFill>
              </a:rPr>
              <a:t>    Les </a:t>
            </a:r>
            <a:r>
              <a:rPr lang="fr-FR" sz="4400" dirty="0">
                <a:solidFill>
                  <a:srgbClr val="002060"/>
                </a:solidFill>
              </a:rPr>
              <a:t>enjeux immédiats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79" y="616795"/>
            <a:ext cx="544134" cy="429579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646112" y="1714500"/>
            <a:ext cx="7907338" cy="42704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👤</a:t>
            </a:r>
            <a: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Pour les actifs </a:t>
            </a:r>
            <a: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:</a:t>
            </a:r>
            <a:b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r>
              <a:rPr lang="fr-FR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Difficile d’anticiper son </a:t>
            </a:r>
            <a:r>
              <a:rPr lang="fr-FR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départ</a:t>
            </a:r>
            <a:r>
              <a:rPr lang="fr-FR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/>
            </a:r>
            <a:br>
              <a:rPr lang="fr-FR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r>
              <a:rPr lang="fr-FR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/>
            </a:r>
            <a:br>
              <a:rPr lang="fr-FR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r>
              <a:rPr lang="fr-FR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/>
            </a:r>
            <a:br>
              <a:rPr lang="fr-FR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r>
              <a:rPr lang="fr-FR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🏢</a:t>
            </a:r>
            <a: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</a:t>
            </a:r>
            <a: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Pour les entreprises : </a:t>
            </a:r>
            <a:b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r>
              <a:rPr lang="fr-FR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Flou sur la gestion des fins de </a:t>
            </a:r>
            <a:r>
              <a:rPr lang="fr-FR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carrière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/>
            </a:r>
            <a:b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r>
              <a:rPr lang="fr-FR" b="1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💶</a:t>
            </a:r>
            <a: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</a:t>
            </a:r>
            <a: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Pour les retraités : </a:t>
            </a:r>
            <a:b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r>
              <a:rPr lang="fr-FR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Pouvoir d’achat fragilisé (revalorisation &lt; inflation</a:t>
            </a:r>
            <a:r>
              <a:rPr lang="fr-FR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)</a:t>
            </a:r>
            <a: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/>
            </a:r>
            <a:br>
              <a:rPr lang="fr-FR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endParaRPr lang="fr-FR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5543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143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dirty="0">
                <a:solidFill>
                  <a:srgbClr val="002060"/>
                </a:solidFill>
              </a:rPr>
              <a:t>l’âge </a:t>
            </a:r>
            <a:r>
              <a:rPr lang="fr-FR" sz="3200" dirty="0">
                <a:solidFill>
                  <a:srgbClr val="002060"/>
                </a:solidFill>
              </a:rPr>
              <a:t>de départ grimpe vers 67 ans (voire plus d’ici 2060</a:t>
            </a:r>
            <a:r>
              <a:rPr lang="fr-FR" sz="3200" dirty="0">
                <a:solidFill>
                  <a:srgbClr val="002060"/>
                </a:solidFill>
              </a:rPr>
              <a:t>)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sz="3200" b="1" dirty="0">
                <a:solidFill>
                  <a:srgbClr val="002060"/>
                </a:solidFill>
              </a:rPr>
              <a:t>L’Europe </a:t>
            </a:r>
            <a:r>
              <a:rPr lang="fr-FR" sz="3200" b="1" dirty="0">
                <a:solidFill>
                  <a:srgbClr val="002060"/>
                </a:solidFill>
              </a:rPr>
              <a:t>prépare déjà l’après : </a:t>
            </a:r>
          </a:p>
          <a:p>
            <a:r>
              <a:rPr lang="fr-FR" sz="2400" dirty="0">
                <a:solidFill>
                  <a:srgbClr val="002060"/>
                </a:solidFill>
              </a:rPr>
              <a:t>Allongement des </a:t>
            </a:r>
            <a:r>
              <a:rPr lang="fr-FR" sz="2400" dirty="0">
                <a:solidFill>
                  <a:srgbClr val="002060"/>
                </a:solidFill>
              </a:rPr>
              <a:t>carrières</a:t>
            </a:r>
          </a:p>
          <a:p>
            <a:r>
              <a:rPr lang="fr-FR" sz="2400" dirty="0">
                <a:solidFill>
                  <a:srgbClr val="002060"/>
                </a:solidFill>
              </a:rPr>
              <a:t>Retraite complémentaire</a:t>
            </a:r>
          </a:p>
          <a:p>
            <a:r>
              <a:rPr lang="fr-FR" sz="2400" dirty="0">
                <a:solidFill>
                  <a:srgbClr val="002060"/>
                </a:solidFill>
              </a:rPr>
              <a:t>épargne </a:t>
            </a:r>
            <a:r>
              <a:rPr lang="fr-FR" sz="2400" dirty="0">
                <a:solidFill>
                  <a:srgbClr val="002060"/>
                </a:solidFill>
              </a:rPr>
              <a:t>individuelle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504" y="1539146"/>
            <a:ext cx="4086096" cy="37156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904" y="3896587"/>
            <a:ext cx="158576" cy="10829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900" y="3389064"/>
            <a:ext cx="156109" cy="10661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846" y="3938207"/>
            <a:ext cx="168378" cy="11944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6480" y="5112229"/>
            <a:ext cx="222794" cy="142588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600" dirty="0" smtClean="0">
                <a:solidFill>
                  <a:schemeClr val="bg1"/>
                </a:solidFill>
              </a:rPr>
              <a:t>    </a:t>
            </a:r>
            <a:r>
              <a:rPr lang="fr-FR" sz="4400" dirty="0"/>
              <a:t>En Europe, la tendance est inverse</a:t>
            </a:r>
            <a:endParaRPr lang="fr-FR" sz="4400" dirty="0">
              <a:solidFill>
                <a:srgbClr val="002060"/>
              </a:solidFill>
              <a:latin typeface="Montserrat SemiBold" panose="00000700000000000000" pitchFamily="2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79" y="616795"/>
            <a:ext cx="544134" cy="42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6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 vous, comment anticipez-vous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La retraite n’est plus une échéance lointaine, c’est une décision </a:t>
            </a:r>
            <a:r>
              <a:rPr lang="fr-FR" dirty="0" smtClean="0"/>
              <a:t>stratégique </a:t>
            </a:r>
            <a:r>
              <a:rPr lang="fr-FR" dirty="0"/>
              <a:t/>
            </a:r>
            <a:br>
              <a:rPr lang="fr-FR" dirty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🌿</a:t>
            </a:r>
            <a:r>
              <a:rPr lang="fr-FR" dirty="0" smtClean="0"/>
              <a:t> Avec </a:t>
            </a:r>
            <a:r>
              <a:rPr lang="fr-FR" dirty="0" err="1" smtClean="0"/>
              <a:t>RetraiteClair</a:t>
            </a:r>
            <a:r>
              <a:rPr lang="fr-FR" dirty="0" smtClean="0"/>
              <a:t> </a:t>
            </a:r>
            <a:r>
              <a:rPr lang="fr-FR" dirty="0" smtClean="0">
                <a:hlinkClick r:id="rId2"/>
              </a:rPr>
              <a:t>https://retraiteclair.onrender.com</a:t>
            </a:r>
            <a:r>
              <a:rPr lang="fr-FR" dirty="0" smtClean="0"/>
              <a:t>, notre </a:t>
            </a:r>
            <a:r>
              <a:rPr lang="fr-FR" dirty="0"/>
              <a:t>mission est d’aider chacun à y voir clair dans un système qui change sans cesse.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🔹</a:t>
            </a:r>
            <a:r>
              <a:rPr lang="fr-FR" dirty="0" smtClean="0"/>
              <a:t> </a:t>
            </a:r>
            <a:r>
              <a:rPr lang="fr-FR" dirty="0"/>
              <a:t>Faites le point, informez-vous, planifiez sereinement</a:t>
            </a:r>
            <a:r>
              <a:rPr lang="fr-FR" dirty="0" smtClean="0"/>
              <a:t>.</a:t>
            </a:r>
            <a:br>
              <a:rPr lang="fr-FR" dirty="0" smtClean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>#Retraite #France #</a:t>
            </a:r>
            <a:r>
              <a:rPr lang="fr-FR" dirty="0" err="1"/>
              <a:t>PouvoirDAchat</a:t>
            </a:r>
            <a:r>
              <a:rPr lang="fr-FR" dirty="0"/>
              <a:t> #RH #Epargne #</a:t>
            </a:r>
            <a:r>
              <a:rPr lang="fr-FR" dirty="0" err="1"/>
              <a:t>ReformeDesRetraites</a:t>
            </a:r>
            <a:r>
              <a:rPr lang="fr-FR" dirty="0"/>
              <a:t> #</a:t>
            </a:r>
            <a:r>
              <a:rPr lang="fr-FR" dirty="0" err="1"/>
              <a:t>RetraiteClair</a:t>
            </a:r>
            <a:r>
              <a:rPr lang="fr-FR" dirty="0"/>
              <a:t> 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510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79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Montserrat</vt:lpstr>
      <vt:lpstr>Montserrat SemiBold</vt:lpstr>
      <vt:lpstr>Wingdings 3</vt:lpstr>
      <vt:lpstr>Office Theme</vt:lpstr>
      <vt:lpstr>    Réforme des retraites      suspendue : et maintenant ?</vt:lpstr>
      <vt:lpstr>PowerPoint Presentation</vt:lpstr>
      <vt:lpstr>PowerPoint Presentation</vt:lpstr>
      <vt:lpstr>PowerPoint Presentation</vt:lpstr>
      <vt:lpstr>Et vous, comment anticipez-vous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Réforme des retraites suspendue : et maintenant ?</dc:title>
  <dc:creator>LE PETIT Matthieu</dc:creator>
  <cp:lastModifiedBy>LE PETIT Matthieu</cp:lastModifiedBy>
  <cp:revision>14</cp:revision>
  <dcterms:created xsi:type="dcterms:W3CDTF">2025-11-07T10:50:51Z</dcterms:created>
  <dcterms:modified xsi:type="dcterms:W3CDTF">2025-11-07T13:59:44Z</dcterms:modified>
</cp:coreProperties>
</file>