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00" y="4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909" y="10879"/>
            <a:ext cx="7944091" cy="68471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758" y="637575"/>
            <a:ext cx="12002947" cy="1168078"/>
          </a:xfrm>
        </p:spPr>
        <p:txBody>
          <a:bodyPr/>
          <a:lstStyle/>
          <a:p>
            <a:r>
              <a:rPr lang="fr-FR" b="1" dirty="0" smtClean="0"/>
              <a:t>Débloquez </a:t>
            </a:r>
            <a:r>
              <a:rPr lang="fr-FR" b="1" dirty="0"/>
              <a:t>votre </a:t>
            </a:r>
            <a:r>
              <a:rPr lang="fr-FR" b="1" dirty="0" smtClean="0"/>
              <a:t>avenir ?</a:t>
            </a:r>
            <a:endParaRPr lang="fr-F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7377" y="2573018"/>
            <a:ext cx="8825658" cy="2600865"/>
          </a:xfrm>
        </p:spPr>
        <p:txBody>
          <a:bodyPr>
            <a:noAutofit/>
          </a:bodyPr>
          <a:lstStyle/>
          <a:p>
            <a:r>
              <a:rPr lang="fr-FR" sz="7200" b="1" dirty="0">
                <a:solidFill>
                  <a:srgbClr val="FFC000"/>
                </a:solidFill>
              </a:rPr>
              <a:t>la Retraite Progressive</a:t>
            </a:r>
            <a:endParaRPr lang="fr-FR" sz="7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070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8324269" cy="1400530"/>
          </a:xfrm>
        </p:spPr>
        <p:txBody>
          <a:bodyPr/>
          <a:lstStyle/>
          <a:p>
            <a:r>
              <a:rPr lang="fr-FR" b="1" dirty="0" smtClean="0">
                <a:solidFill>
                  <a:srgbClr val="FFC000"/>
                </a:solidFill>
              </a:rPr>
              <a:t>la </a:t>
            </a:r>
            <a:r>
              <a:rPr lang="fr-FR" b="1" dirty="0">
                <a:solidFill>
                  <a:srgbClr val="FFC000"/>
                </a:solidFill>
              </a:rPr>
              <a:t>Retraite </a:t>
            </a:r>
            <a:r>
              <a:rPr lang="fr-FR" b="1" dirty="0" smtClean="0">
                <a:solidFill>
                  <a:srgbClr val="FFC000"/>
                </a:solidFill>
              </a:rPr>
              <a:t>Progressive</a:t>
            </a:r>
            <a:br>
              <a:rPr lang="fr-FR" b="1" dirty="0" smtClean="0">
                <a:solidFill>
                  <a:srgbClr val="FFC000"/>
                </a:solidFill>
              </a:rPr>
            </a:br>
            <a:r>
              <a:rPr lang="fr-FR" sz="3600" b="1" dirty="0">
                <a:solidFill>
                  <a:srgbClr val="FFFF00"/>
                </a:solidFill>
              </a:rPr>
              <a:t>e</a:t>
            </a:r>
            <a:r>
              <a:rPr lang="fr-FR" sz="3600" b="1" dirty="0" smtClean="0">
                <a:solidFill>
                  <a:srgbClr val="FFFF00"/>
                </a:solidFill>
              </a:rPr>
              <a:t>xpliquée</a:t>
            </a:r>
            <a:r>
              <a:rPr lang="fr-FR" sz="3600" b="1" dirty="0">
                <a:solidFill>
                  <a:srgbClr val="FFFF00"/>
                </a:solidFill>
              </a:rPr>
              <a:t/>
            </a:r>
            <a:br>
              <a:rPr lang="fr-FR" sz="3600" b="1" dirty="0">
                <a:solidFill>
                  <a:srgbClr val="FFFF00"/>
                </a:solidFill>
              </a:rPr>
            </a:br>
            <a:endParaRPr lang="fr-FR" b="1" dirty="0">
              <a:solidFill>
                <a:srgbClr val="FFFF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160" y="1"/>
            <a:ext cx="3681705" cy="6858000"/>
          </a:xfrm>
        </p:spPr>
      </p:pic>
      <p:sp>
        <p:nvSpPr>
          <p:cNvPr id="5" name="Rectangle 4"/>
          <p:cNvSpPr/>
          <p:nvPr/>
        </p:nvSpPr>
        <p:spPr>
          <a:xfrm>
            <a:off x="646112" y="2259105"/>
            <a:ext cx="7273160" cy="37899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fr-FR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Découvrez une manière plus intelligente de préparer votre retraite.</a:t>
            </a:r>
            <a:br>
              <a:rPr lang="fr-FR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fr-FR" sz="28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/>
            </a:r>
            <a:br>
              <a:rPr lang="fr-FR" sz="28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fr-FR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/>
            </a:r>
            <a:br>
              <a:rPr lang="fr-FR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fr-FR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La retraite progressive vous permet de réduire progressivement votre temps de travail tout en percevant une partie de votre pension. </a:t>
            </a:r>
            <a:br>
              <a:rPr lang="fr-FR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fr-FR" sz="2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5995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7637277" cy="1400530"/>
          </a:xfrm>
        </p:spPr>
        <p:txBody>
          <a:bodyPr/>
          <a:lstStyle/>
          <a:p>
            <a:r>
              <a:rPr lang="fr-FR" b="1" dirty="0" smtClean="0">
                <a:solidFill>
                  <a:srgbClr val="FFFF00"/>
                </a:solidFill>
              </a:rPr>
              <a:t>Une </a:t>
            </a:r>
            <a:r>
              <a:rPr lang="fr-FR" b="1" dirty="0">
                <a:solidFill>
                  <a:srgbClr val="FFFF00"/>
                </a:solidFill>
              </a:rPr>
              <a:t>Transition Flexible</a:t>
            </a:r>
            <a:r>
              <a:rPr lang="fr-FR" dirty="0"/>
              <a:t> </a:t>
            </a:r>
            <a:r>
              <a:rPr lang="fr-FR" b="1" dirty="0">
                <a:solidFill>
                  <a:srgbClr val="FFC000"/>
                </a:solidFill>
              </a:rPr>
              <a:t>et Humaine</a:t>
            </a:r>
            <a:r>
              <a:rPr lang="fr-FR" dirty="0" smtClean="0">
                <a:solidFill>
                  <a:srgbClr val="FFC000"/>
                </a:solidFill>
              </a:rPr>
              <a:t/>
            </a:r>
            <a:br>
              <a:rPr lang="fr-FR" dirty="0" smtClean="0">
                <a:solidFill>
                  <a:srgbClr val="FFC000"/>
                </a:solidFill>
              </a:rPr>
            </a:br>
            <a:endParaRPr lang="fr-FR" dirty="0">
              <a:solidFill>
                <a:srgbClr val="FFC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6112" y="2259105"/>
            <a:ext cx="7273160" cy="37899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fr-FR" sz="2800" dirty="0">
                <a:solidFill>
                  <a:schemeClr val="tx2"/>
                </a:solidFill>
              </a:rPr>
              <a:t>C’est une transition flexible, qui vous aide à conserver un revenu, à alléger votre rythme </a:t>
            </a:r>
            <a:r>
              <a:rPr lang="fr-FR" sz="2800" dirty="0">
                <a:solidFill>
                  <a:schemeClr val="tx2"/>
                </a:solidFill>
              </a:rPr>
              <a:t>sans arrêter brutalement, </a:t>
            </a:r>
            <a:r>
              <a:rPr lang="fr-FR" sz="2800" dirty="0" smtClean="0">
                <a:solidFill>
                  <a:schemeClr val="tx2"/>
                </a:solidFill>
              </a:rPr>
              <a:t>et </a:t>
            </a:r>
            <a:r>
              <a:rPr lang="fr-FR" sz="2800" dirty="0">
                <a:solidFill>
                  <a:schemeClr val="tx2"/>
                </a:solidFill>
              </a:rPr>
              <a:t>à avancer à votre propre cadence vers une nouvelle étape de votre vie.</a:t>
            </a:r>
          </a:p>
          <a:p>
            <a:pPr>
              <a:spcBef>
                <a:spcPct val="0"/>
              </a:spcBef>
            </a:pPr>
            <a:r>
              <a:rPr lang="fr-FR" sz="2800" b="1" dirty="0" smtClean="0">
                <a:solidFill>
                  <a:schemeClr val="tx2"/>
                </a:solidFill>
              </a:rPr>
              <a:t/>
            </a:r>
            <a:br>
              <a:rPr lang="fr-FR" sz="2800" b="1" dirty="0" smtClean="0">
                <a:solidFill>
                  <a:schemeClr val="tx2"/>
                </a:solidFill>
              </a:rPr>
            </a:br>
            <a:r>
              <a:rPr lang="fr-FR" sz="2800" dirty="0">
                <a:solidFill>
                  <a:schemeClr val="tx2"/>
                </a:solidFill>
              </a:rPr>
              <a:t/>
            </a:r>
            <a:br>
              <a:rPr lang="fr-FR" sz="2800" dirty="0">
                <a:solidFill>
                  <a:schemeClr val="tx2"/>
                </a:solidFill>
              </a:rPr>
            </a:br>
            <a:r>
              <a:rPr lang="fr-FR" sz="2800" dirty="0">
                <a:solidFill>
                  <a:schemeClr val="tx2"/>
                </a:solidFill>
              </a:rPr>
              <a:t>Une démarche pensée pour votre confort psychologique et social.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160" y="-4772"/>
            <a:ext cx="3690840" cy="686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82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7637277" cy="824753"/>
          </a:xfrm>
        </p:spPr>
        <p:txBody>
          <a:bodyPr/>
          <a:lstStyle/>
          <a:p>
            <a:r>
              <a:rPr lang="fr-FR" b="1" dirty="0" smtClean="0">
                <a:solidFill>
                  <a:srgbClr val="FFC000"/>
                </a:solidFill>
              </a:rPr>
              <a:t>Les Avantages Clés</a:t>
            </a:r>
            <a:r>
              <a:rPr lang="fr-FR" dirty="0" smtClean="0">
                <a:solidFill>
                  <a:srgbClr val="FFC000"/>
                </a:solidFill>
              </a:rPr>
              <a:t/>
            </a:r>
            <a:br>
              <a:rPr lang="fr-FR" dirty="0" smtClean="0">
                <a:solidFill>
                  <a:srgbClr val="FFC000"/>
                </a:solidFill>
              </a:rPr>
            </a:br>
            <a:endParaRPr lang="fr-FR" dirty="0">
              <a:solidFill>
                <a:srgbClr val="FFC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160" y="1"/>
            <a:ext cx="3690840" cy="6858000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566946" y="1744774"/>
            <a:ext cx="7560414" cy="934644"/>
            <a:chOff x="588164" y="1582724"/>
            <a:chExt cx="7560414" cy="934644"/>
          </a:xfrm>
          <a:solidFill>
            <a:schemeClr val="lt1"/>
          </a:solidFill>
        </p:grpSpPr>
        <p:sp>
          <p:nvSpPr>
            <p:cNvPr id="16" name="Rounded Rectangle 15"/>
            <p:cNvSpPr/>
            <p:nvPr/>
          </p:nvSpPr>
          <p:spPr>
            <a:xfrm>
              <a:off x="588164" y="1582724"/>
              <a:ext cx="7560414" cy="934644"/>
            </a:xfrm>
            <a:prstGeom prst="roundRect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txBody>
            <a:bodyPr vert="horz" lIns="91440" tIns="45720" rIns="91440" bIns="45720" rtlCol="0" anchor="t">
              <a:noAutofit/>
            </a:bodyPr>
            <a:lstStyle/>
            <a:p>
              <a:r>
                <a:rPr lang="fr-FR" sz="3200" b="1" dirty="0" smtClean="0">
                  <a:solidFill>
                    <a:schemeClr val="accent4">
                      <a:lumMod val="75000"/>
                    </a:schemeClr>
                  </a:solidFill>
                </a:rPr>
                <a:t> Flexibilité </a:t>
              </a:r>
              <a:r>
                <a:rPr lang="fr-FR" sz="3200" b="1" dirty="0">
                  <a:solidFill>
                    <a:schemeClr val="accent4">
                      <a:lumMod val="75000"/>
                    </a:schemeClr>
                  </a:solidFill>
                </a:rPr>
                <a:t>personnalisée</a:t>
              </a:r>
              <a:r>
                <a:rPr lang="fr-FR" sz="3200" dirty="0">
                  <a:solidFill>
                    <a:schemeClr val="accent4">
                      <a:lumMod val="75000"/>
                    </a:schemeClr>
                  </a:solidFill>
                </a:rPr>
                <a:t> </a:t>
              </a:r>
              <a:r>
                <a:rPr lang="fr-FR" sz="3200" dirty="0" smtClean="0">
                  <a:solidFill>
                    <a:schemeClr val="accent4">
                      <a:lumMod val="75000"/>
                    </a:schemeClr>
                  </a:solidFill>
                </a:rPr>
                <a:t> </a:t>
              </a:r>
              <a:br>
                <a:rPr lang="fr-FR" sz="3200" dirty="0" smtClean="0">
                  <a:solidFill>
                    <a:schemeClr val="accent4">
                      <a:lumMod val="75000"/>
                    </a:schemeClr>
                  </a:solidFill>
                </a:rPr>
              </a:br>
              <a:r>
                <a:rPr lang="fr-FR" dirty="0" smtClean="0">
                  <a:solidFill>
                    <a:schemeClr val="accent4">
                      <a:lumMod val="75000"/>
                    </a:schemeClr>
                  </a:solidFill>
                </a:rPr>
                <a:t>  horaires </a:t>
              </a:r>
              <a:r>
                <a:rPr lang="fr-FR" dirty="0">
                  <a:solidFill>
                    <a:schemeClr val="accent4">
                      <a:lumMod val="75000"/>
                    </a:schemeClr>
                  </a:solidFill>
                </a:rPr>
                <a:t>adaptés à </a:t>
              </a:r>
              <a:r>
                <a:rPr lang="fr-FR" dirty="0" smtClean="0">
                  <a:solidFill>
                    <a:schemeClr val="accent4">
                      <a:lumMod val="75000"/>
                    </a:schemeClr>
                  </a:solidFill>
                </a:rPr>
                <a:t>votre énergie</a:t>
              </a:r>
              <a:endParaRPr lang="fr-FR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646111" y="1736203"/>
              <a:ext cx="0" cy="613458"/>
            </a:xfrm>
            <a:prstGeom prst="line">
              <a:avLst/>
            </a:prstGeom>
            <a:grpFill/>
            <a:ln w="66675" cmpd="sng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566946" y="2829543"/>
            <a:ext cx="7560414" cy="934644"/>
            <a:chOff x="588164" y="1582724"/>
            <a:chExt cx="7560414" cy="934644"/>
          </a:xfrm>
        </p:grpSpPr>
        <p:sp>
          <p:nvSpPr>
            <p:cNvPr id="27" name="Rounded Rectangle 26"/>
            <p:cNvSpPr/>
            <p:nvPr/>
          </p:nvSpPr>
          <p:spPr>
            <a:xfrm>
              <a:off x="588164" y="1582724"/>
              <a:ext cx="7560414" cy="934644"/>
            </a:xfrm>
            <a:prstGeom prst="roundRect">
              <a:avLst/>
            </a:prstGeom>
            <a:solidFill>
              <a:schemeClr val="lt1"/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txBody>
            <a:bodyPr vert="horz" lIns="91440" tIns="45720" rIns="91440" bIns="45720" rtlCol="0" anchor="t">
              <a:noAutofit/>
            </a:bodyPr>
            <a:lstStyle/>
            <a:p>
              <a:r>
                <a:rPr lang="fr-FR" sz="3200" b="1" dirty="0" smtClean="0">
                  <a:solidFill>
                    <a:schemeClr val="accent4">
                      <a:lumMod val="75000"/>
                    </a:schemeClr>
                  </a:solidFill>
                </a:rPr>
                <a:t> Sécurité financière </a:t>
              </a:r>
              <a:br>
                <a:rPr lang="fr-FR" sz="3200" b="1" dirty="0" smtClean="0">
                  <a:solidFill>
                    <a:schemeClr val="accent4">
                      <a:lumMod val="75000"/>
                    </a:schemeClr>
                  </a:solidFill>
                </a:rPr>
              </a:br>
              <a:r>
                <a:rPr lang="fr-FR" dirty="0">
                  <a:solidFill>
                    <a:schemeClr val="accent4">
                      <a:lumMod val="75000"/>
                    </a:schemeClr>
                  </a:solidFill>
                </a:rPr>
                <a:t> </a:t>
              </a:r>
              <a:r>
                <a:rPr lang="fr-FR" dirty="0" smtClean="0">
                  <a:solidFill>
                    <a:schemeClr val="accent4">
                      <a:lumMod val="75000"/>
                    </a:schemeClr>
                  </a:solidFill>
                </a:rPr>
                <a:t> évite </a:t>
              </a:r>
              <a:r>
                <a:rPr lang="fr-FR" dirty="0">
                  <a:solidFill>
                    <a:schemeClr val="accent4">
                      <a:lumMod val="75000"/>
                    </a:schemeClr>
                  </a:solidFill>
                </a:rPr>
                <a:t>le choc « 100 % → 0 % »</a:t>
              </a:r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646111" y="1736203"/>
              <a:ext cx="0" cy="613458"/>
            </a:xfrm>
            <a:prstGeom prst="line">
              <a:avLst/>
            </a:prstGeom>
            <a:ln w="66675" cmpd="sng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566946" y="3914312"/>
            <a:ext cx="7560414" cy="934644"/>
            <a:chOff x="588164" y="1582724"/>
            <a:chExt cx="7560414" cy="934644"/>
          </a:xfrm>
        </p:grpSpPr>
        <p:sp>
          <p:nvSpPr>
            <p:cNvPr id="30" name="Rounded Rectangle 29"/>
            <p:cNvSpPr/>
            <p:nvPr/>
          </p:nvSpPr>
          <p:spPr>
            <a:xfrm>
              <a:off x="588164" y="1582724"/>
              <a:ext cx="7560414" cy="934644"/>
            </a:xfrm>
            <a:prstGeom prst="roundRect">
              <a:avLst/>
            </a:prstGeom>
            <a:solidFill>
              <a:schemeClr val="lt1"/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txBody>
            <a:bodyPr vert="horz" lIns="91440" tIns="45720" rIns="91440" bIns="45720" rtlCol="0" anchor="t">
              <a:noAutofit/>
            </a:bodyPr>
            <a:lstStyle/>
            <a:p>
              <a:r>
                <a:rPr lang="fr-FR" sz="3200" b="1" dirty="0" smtClean="0">
                  <a:solidFill>
                    <a:schemeClr val="accent4">
                      <a:lumMod val="75000"/>
                    </a:schemeClr>
                  </a:solidFill>
                </a:rPr>
                <a:t> </a:t>
              </a:r>
              <a:r>
                <a:rPr lang="fr-FR" sz="3200" b="1" dirty="0">
                  <a:solidFill>
                    <a:schemeClr val="accent4">
                      <a:lumMod val="75000"/>
                    </a:schemeClr>
                  </a:solidFill>
                </a:rPr>
                <a:t>Transition sereine</a:t>
              </a:r>
              <a:r>
                <a:rPr lang="fr-FR" sz="3200" b="1" dirty="0" smtClean="0">
                  <a:solidFill>
                    <a:schemeClr val="accent4">
                      <a:lumMod val="75000"/>
                    </a:schemeClr>
                  </a:solidFill>
                </a:rPr>
                <a:t> </a:t>
              </a:r>
              <a:br>
                <a:rPr lang="fr-FR" sz="3200" b="1" dirty="0" smtClean="0">
                  <a:solidFill>
                    <a:schemeClr val="accent4">
                      <a:lumMod val="75000"/>
                    </a:schemeClr>
                  </a:solidFill>
                </a:rPr>
              </a:br>
              <a:r>
                <a:rPr lang="fr-FR" dirty="0" smtClean="0">
                  <a:solidFill>
                    <a:schemeClr val="accent4">
                      <a:lumMod val="75000"/>
                    </a:schemeClr>
                  </a:solidFill>
                </a:rPr>
                <a:t> </a:t>
              </a:r>
              <a:r>
                <a:rPr lang="fr-FR" dirty="0">
                  <a:solidFill>
                    <a:schemeClr val="accent4">
                      <a:lumMod val="75000"/>
                    </a:schemeClr>
                  </a:solidFill>
                </a:rPr>
                <a:t>testez votre futur rythme</a:t>
              </a:r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646111" y="1736203"/>
              <a:ext cx="0" cy="613458"/>
            </a:xfrm>
            <a:prstGeom prst="line">
              <a:avLst/>
            </a:prstGeom>
            <a:ln w="66675" cmpd="sng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566946" y="4999080"/>
            <a:ext cx="7560414" cy="934644"/>
            <a:chOff x="588164" y="1582724"/>
            <a:chExt cx="7560414" cy="934644"/>
          </a:xfrm>
        </p:grpSpPr>
        <p:sp>
          <p:nvSpPr>
            <p:cNvPr id="36" name="Rounded Rectangle 35"/>
            <p:cNvSpPr/>
            <p:nvPr/>
          </p:nvSpPr>
          <p:spPr>
            <a:xfrm>
              <a:off x="588164" y="1582724"/>
              <a:ext cx="7560414" cy="934644"/>
            </a:xfrm>
            <a:prstGeom prst="roundRect">
              <a:avLst/>
            </a:prstGeom>
            <a:solidFill>
              <a:schemeClr val="lt1"/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txBody>
            <a:bodyPr vert="horz" lIns="91440" tIns="45720" rIns="91440" bIns="45720" rtlCol="0" anchor="t">
              <a:noAutofit/>
            </a:bodyPr>
            <a:lstStyle/>
            <a:p>
              <a:r>
                <a:rPr lang="fr-FR" sz="3200" b="1" dirty="0">
                  <a:solidFill>
                    <a:schemeClr val="accent4">
                      <a:lumMod val="75000"/>
                    </a:schemeClr>
                  </a:solidFill>
                </a:rPr>
                <a:t>Transmission d’expertise</a:t>
              </a:r>
              <a:endParaRPr lang="fr-FR" sz="3200" dirty="0">
                <a:solidFill>
                  <a:schemeClr val="accent4">
                    <a:lumMod val="75000"/>
                  </a:schemeClr>
                </a:solidFill>
              </a:endParaRPr>
            </a:p>
            <a:p>
              <a:r>
                <a:rPr lang="fr-FR" dirty="0">
                  <a:solidFill>
                    <a:schemeClr val="accent4">
                      <a:lumMod val="75000"/>
                    </a:schemeClr>
                  </a:solidFill>
                </a:rPr>
                <a:t>valorisez vos années d’expérience</a:t>
              </a:r>
              <a:endParaRPr lang="fr-FR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646111" y="1736203"/>
              <a:ext cx="0" cy="613458"/>
            </a:xfrm>
            <a:prstGeom prst="line">
              <a:avLst/>
            </a:prstGeom>
            <a:ln w="66675" cmpd="sng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220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7637277" cy="1400530"/>
          </a:xfrm>
        </p:spPr>
        <p:txBody>
          <a:bodyPr/>
          <a:lstStyle/>
          <a:p>
            <a:r>
              <a:rPr lang="fr-FR" dirty="0">
                <a:solidFill>
                  <a:srgbClr val="FFC000"/>
                </a:solidFill>
              </a:rPr>
              <a:t>Êtes-vous éligible </a:t>
            </a:r>
            <a:r>
              <a:rPr lang="fr-FR" dirty="0" smtClean="0">
                <a:solidFill>
                  <a:srgbClr val="FFC000"/>
                </a:solidFill>
              </a:rPr>
              <a:t>?</a:t>
            </a:r>
            <a:endParaRPr lang="fr-FR" dirty="0">
              <a:solidFill>
                <a:srgbClr val="FFC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6111" y="1738244"/>
            <a:ext cx="7273160" cy="37899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fr-FR" sz="2800" dirty="0">
                <a:solidFill>
                  <a:schemeClr val="tx2"/>
                </a:solidFill>
              </a:rPr>
              <a:t>Selon votre situation, vous pouvez y accéder si vous </a:t>
            </a:r>
            <a:r>
              <a:rPr lang="fr-FR" sz="2800" dirty="0" smtClean="0">
                <a:solidFill>
                  <a:schemeClr val="tx2"/>
                </a:solidFill>
              </a:rPr>
              <a:t>:</a:t>
            </a:r>
            <a:br>
              <a:rPr lang="fr-FR" sz="2800" dirty="0" smtClean="0">
                <a:solidFill>
                  <a:schemeClr val="tx2"/>
                </a:solidFill>
              </a:rPr>
            </a:br>
            <a:r>
              <a:rPr lang="fr-FR" sz="2800" dirty="0">
                <a:solidFill>
                  <a:schemeClr val="tx2"/>
                </a:solidFill>
              </a:rPr>
              <a:t/>
            </a:r>
            <a:br>
              <a:rPr lang="fr-FR" sz="2800" dirty="0">
                <a:solidFill>
                  <a:schemeClr val="tx2"/>
                </a:solidFill>
              </a:rPr>
            </a:br>
            <a:r>
              <a:rPr lang="fr-FR" sz="2800" dirty="0">
                <a:solidFill>
                  <a:schemeClr val="tx2"/>
                </a:solidFill>
              </a:rPr>
              <a:t>-</a:t>
            </a:r>
            <a:r>
              <a:rPr lang="fr-FR" sz="2800" dirty="0" smtClean="0">
                <a:solidFill>
                  <a:schemeClr val="tx2"/>
                </a:solidFill>
              </a:rPr>
              <a:t> </a:t>
            </a:r>
            <a:r>
              <a:rPr lang="fr-FR" sz="2800" dirty="0">
                <a:solidFill>
                  <a:schemeClr val="tx2"/>
                </a:solidFill>
              </a:rPr>
              <a:t>avez au moins 60 ans,</a:t>
            </a:r>
            <a:br>
              <a:rPr lang="fr-FR" sz="2800" dirty="0">
                <a:solidFill>
                  <a:schemeClr val="tx2"/>
                </a:solidFill>
              </a:rPr>
            </a:br>
            <a:r>
              <a:rPr lang="fr-FR" sz="2800" dirty="0" smtClean="0">
                <a:solidFill>
                  <a:schemeClr val="tx2"/>
                </a:solidFill>
              </a:rPr>
              <a:t>- </a:t>
            </a:r>
            <a:r>
              <a:rPr lang="fr-FR" sz="2800" dirty="0">
                <a:solidFill>
                  <a:schemeClr val="tx2"/>
                </a:solidFill>
              </a:rPr>
              <a:t>justifiez d’au moins 150 trimestres,</a:t>
            </a:r>
            <a:br>
              <a:rPr lang="fr-FR" sz="2800" dirty="0">
                <a:solidFill>
                  <a:schemeClr val="tx2"/>
                </a:solidFill>
              </a:rPr>
            </a:br>
            <a:r>
              <a:rPr lang="fr-FR" sz="2800" dirty="0" smtClean="0">
                <a:solidFill>
                  <a:schemeClr val="tx2"/>
                </a:solidFill>
              </a:rPr>
              <a:t>- </a:t>
            </a:r>
            <a:r>
              <a:rPr lang="fr-FR" sz="2800" dirty="0">
                <a:solidFill>
                  <a:schemeClr val="tx2"/>
                </a:solidFill>
              </a:rPr>
              <a:t>travaillez entre 40 et 80 %,</a:t>
            </a:r>
            <a:br>
              <a:rPr lang="fr-FR" sz="2800" dirty="0">
                <a:solidFill>
                  <a:schemeClr val="tx2"/>
                </a:solidFill>
              </a:rPr>
            </a:br>
            <a:r>
              <a:rPr lang="fr-FR" sz="2800" dirty="0" smtClean="0">
                <a:solidFill>
                  <a:schemeClr val="tx2"/>
                </a:solidFill>
              </a:rPr>
              <a:t>- </a:t>
            </a:r>
            <a:r>
              <a:rPr lang="fr-FR" sz="2800" dirty="0">
                <a:solidFill>
                  <a:schemeClr val="tx2"/>
                </a:solidFill>
              </a:rPr>
              <a:t>obtenez l’accord de votre employeur </a:t>
            </a:r>
            <a:r>
              <a:rPr lang="fr-FR" sz="2800" dirty="0" smtClean="0">
                <a:solidFill>
                  <a:schemeClr val="tx2"/>
                </a:solidFill>
              </a:rPr>
              <a:t/>
            </a:r>
            <a:br>
              <a:rPr lang="fr-FR" sz="2800" dirty="0" smtClean="0">
                <a:solidFill>
                  <a:schemeClr val="tx2"/>
                </a:solidFill>
              </a:rPr>
            </a:br>
            <a:r>
              <a:rPr lang="fr-FR" sz="2800" dirty="0" smtClean="0">
                <a:solidFill>
                  <a:schemeClr val="tx2"/>
                </a:solidFill>
              </a:rPr>
              <a:t/>
            </a:r>
            <a:br>
              <a:rPr lang="fr-FR" sz="2800" dirty="0" smtClean="0">
                <a:solidFill>
                  <a:schemeClr val="tx2"/>
                </a:solidFill>
              </a:rPr>
            </a:br>
            <a:r>
              <a:rPr lang="fr-FR" sz="2800" dirty="0" smtClean="0">
                <a:solidFill>
                  <a:schemeClr val="tx2"/>
                </a:solidFill>
              </a:rPr>
              <a:t>Un </a:t>
            </a:r>
            <a:r>
              <a:rPr lang="fr-FR" sz="2800" dirty="0">
                <a:solidFill>
                  <a:schemeClr val="tx2"/>
                </a:solidFill>
              </a:rPr>
              <a:t>dispositif accessible, mais </a:t>
            </a:r>
            <a:r>
              <a:rPr lang="fr-FR" sz="2800" dirty="0"/>
              <a:t>structuré.</a:t>
            </a:r>
            <a:r>
              <a:rPr lang="fr-FR" sz="2800" dirty="0">
                <a:solidFill>
                  <a:schemeClr val="tx2"/>
                </a:solidFill>
              </a:rPr>
              <a:t/>
            </a:r>
            <a:br>
              <a:rPr lang="fr-FR" sz="2800" dirty="0">
                <a:solidFill>
                  <a:schemeClr val="tx2"/>
                </a:solidFill>
              </a:rPr>
            </a:br>
            <a:endParaRPr lang="fr-FR" sz="2800" dirty="0">
              <a:solidFill>
                <a:schemeClr val="tx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160" y="-4772"/>
            <a:ext cx="3690840" cy="686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41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7637277" cy="1400530"/>
          </a:xfrm>
        </p:spPr>
        <p:txBody>
          <a:bodyPr/>
          <a:lstStyle/>
          <a:p>
            <a:r>
              <a:rPr lang="fr-FR" dirty="0">
                <a:solidFill>
                  <a:srgbClr val="FFC000"/>
                </a:solidFill>
              </a:rPr>
              <a:t>Les Étapes </a:t>
            </a:r>
            <a:r>
              <a:rPr lang="fr-FR" dirty="0" smtClean="0">
                <a:solidFill>
                  <a:srgbClr val="FFC000"/>
                </a:solidFill>
              </a:rPr>
              <a:t>Concrètes</a:t>
            </a:r>
            <a:endParaRPr lang="fr-FR" dirty="0">
              <a:solidFill>
                <a:srgbClr val="FFC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6111" y="1587779"/>
            <a:ext cx="7273160" cy="454680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z="2400" dirty="0" smtClean="0">
                <a:solidFill>
                  <a:schemeClr val="tx2"/>
                </a:solidFill>
              </a:rPr>
              <a:t>- </a:t>
            </a:r>
            <a:r>
              <a:rPr lang="fr-FR" sz="2400" b="1" dirty="0" smtClean="0"/>
              <a:t>Analyse </a:t>
            </a:r>
            <a:r>
              <a:rPr lang="fr-FR" sz="2400" b="1" dirty="0"/>
              <a:t>auprès de votre caisse</a:t>
            </a:r>
            <a:r>
              <a:rPr lang="fr-FR" sz="2400" dirty="0"/>
              <a:t> (relevé de carrière, simulation</a:t>
            </a:r>
            <a:r>
              <a:rPr lang="fr-FR" sz="2400" dirty="0" smtClean="0"/>
              <a:t>)</a:t>
            </a:r>
            <a:br>
              <a:rPr lang="fr-FR" sz="2400" dirty="0" smtClean="0"/>
            </a:br>
            <a:endParaRPr lang="fr-FR" sz="2400" dirty="0"/>
          </a:p>
          <a:p>
            <a:r>
              <a:rPr lang="fr-FR" sz="2400" b="1" dirty="0" smtClean="0"/>
              <a:t>- Discussion </a:t>
            </a:r>
            <a:r>
              <a:rPr lang="fr-FR" sz="2400" b="1" dirty="0"/>
              <a:t>avec votre employeur</a:t>
            </a:r>
            <a:r>
              <a:rPr lang="fr-FR" sz="2400" dirty="0"/>
              <a:t> pour organiser le temps </a:t>
            </a:r>
            <a:r>
              <a:rPr lang="fr-FR" sz="2400" dirty="0" smtClean="0"/>
              <a:t>partiel</a:t>
            </a:r>
            <a:br>
              <a:rPr lang="fr-FR" sz="2400" dirty="0" smtClean="0"/>
            </a:br>
            <a:endParaRPr lang="fr-FR" sz="2400" dirty="0"/>
          </a:p>
          <a:p>
            <a:r>
              <a:rPr lang="fr-FR" sz="2400" b="1" dirty="0" smtClean="0"/>
              <a:t>- Avenant </a:t>
            </a:r>
            <a:r>
              <a:rPr lang="fr-FR" sz="2400" b="1" dirty="0"/>
              <a:t>au contrat</a:t>
            </a:r>
            <a:r>
              <a:rPr lang="fr-FR" sz="2400" dirty="0"/>
              <a:t> pour valider </a:t>
            </a:r>
            <a:r>
              <a:rPr lang="fr-FR" sz="2400" dirty="0" smtClean="0"/>
              <a:t>l’aménagement</a:t>
            </a:r>
            <a:br>
              <a:rPr lang="fr-FR" sz="2400" dirty="0" smtClean="0"/>
            </a:br>
            <a:endParaRPr lang="fr-FR" sz="2400" dirty="0"/>
          </a:p>
          <a:p>
            <a:r>
              <a:rPr lang="fr-FR" sz="2400" b="1" dirty="0" smtClean="0"/>
              <a:t>- Dépôt </a:t>
            </a:r>
            <a:r>
              <a:rPr lang="fr-FR" sz="2400" b="1" dirty="0"/>
              <a:t>de dossier</a:t>
            </a:r>
            <a:r>
              <a:rPr lang="fr-FR" sz="2400" dirty="0"/>
              <a:t> de retraite </a:t>
            </a:r>
            <a:r>
              <a:rPr lang="fr-FR" sz="2400" dirty="0" smtClean="0"/>
              <a:t>progressive</a:t>
            </a:r>
            <a:br>
              <a:rPr lang="fr-FR" sz="2400" dirty="0" smtClean="0"/>
            </a:br>
            <a:endParaRPr lang="fr-FR" sz="2400" dirty="0"/>
          </a:p>
          <a:p>
            <a:r>
              <a:rPr lang="fr-FR" sz="2400" b="1" dirty="0" smtClean="0"/>
              <a:t>- Notification</a:t>
            </a:r>
            <a:r>
              <a:rPr lang="fr-FR" sz="2400" dirty="0" smtClean="0"/>
              <a:t> </a:t>
            </a:r>
            <a:r>
              <a:rPr lang="fr-FR" sz="2400" dirty="0"/>
              <a:t>et entrée dans le </a:t>
            </a:r>
            <a:r>
              <a:rPr lang="fr-FR" sz="2400" dirty="0" smtClean="0"/>
              <a:t>dispositif</a:t>
            </a:r>
            <a:br>
              <a:rPr lang="fr-FR" sz="2400" dirty="0" smtClean="0"/>
            </a:br>
            <a:endParaRPr lang="fr-FR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160" y="-4772"/>
            <a:ext cx="3690840" cy="686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3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7637277" cy="1400530"/>
          </a:xfrm>
        </p:spPr>
        <p:txBody>
          <a:bodyPr/>
          <a:lstStyle/>
          <a:p>
            <a:r>
              <a:rPr lang="fr-FR" dirty="0">
                <a:solidFill>
                  <a:srgbClr val="FFC000"/>
                </a:solidFill>
              </a:rPr>
              <a:t>Réussir votre Transition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6111" y="1587779"/>
            <a:ext cx="7273160" cy="454680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z="2400" dirty="0"/>
              <a:t>Anticipez via des </a:t>
            </a:r>
            <a:r>
              <a:rPr lang="fr-FR" sz="2400" b="1" dirty="0"/>
              <a:t>simulations budgétaires</a:t>
            </a:r>
            <a:r>
              <a:rPr lang="fr-FR" sz="2400" dirty="0"/>
              <a:t> et </a:t>
            </a:r>
            <a:r>
              <a:rPr lang="fr-FR" sz="2400" dirty="0" smtClean="0"/>
              <a:t>fiscales</a:t>
            </a:r>
            <a:br>
              <a:rPr lang="fr-FR" sz="2400" dirty="0" smtClean="0"/>
            </a:br>
            <a:r>
              <a:rPr lang="fr-FR" sz="2400" dirty="0"/>
              <a:t/>
            </a:r>
            <a:br>
              <a:rPr lang="fr-FR" sz="2400" dirty="0"/>
            </a:br>
            <a:r>
              <a:rPr lang="fr-FR" sz="2400" dirty="0" smtClean="0"/>
              <a:t>- Préparez </a:t>
            </a:r>
            <a:r>
              <a:rPr lang="fr-FR" sz="2400" dirty="0"/>
              <a:t>vos nouveaux projets (loisirs, bénévolat, famille</a:t>
            </a:r>
            <a:r>
              <a:rPr lang="fr-FR" sz="2400" dirty="0" smtClean="0"/>
              <a:t>)</a:t>
            </a:r>
            <a:br>
              <a:rPr lang="fr-FR" sz="2400" dirty="0" smtClean="0"/>
            </a:br>
            <a:r>
              <a:rPr lang="fr-FR" sz="2400" dirty="0"/>
              <a:t/>
            </a:r>
            <a:br>
              <a:rPr lang="fr-FR" sz="2400" dirty="0"/>
            </a:br>
            <a:r>
              <a:rPr lang="fr-FR" sz="2400" dirty="0" smtClean="0"/>
              <a:t>- Utilisez </a:t>
            </a:r>
            <a:r>
              <a:rPr lang="fr-FR" sz="2400" dirty="0"/>
              <a:t>ce nouveau temps pour votre </a:t>
            </a:r>
            <a:r>
              <a:rPr lang="fr-FR" sz="2400" b="1" dirty="0"/>
              <a:t>santé</a:t>
            </a:r>
            <a:r>
              <a:rPr lang="fr-FR" sz="2400" dirty="0"/>
              <a:t> et votre bien-être.</a:t>
            </a:r>
          </a:p>
          <a:p>
            <a:r>
              <a:rPr lang="fr-FR" sz="2400" dirty="0" smtClean="0"/>
              <a:t/>
            </a:r>
            <a:br>
              <a:rPr lang="fr-FR" sz="2400" dirty="0" smtClean="0"/>
            </a:br>
            <a:r>
              <a:rPr lang="fr-FR" sz="2400" dirty="0" smtClean="0"/>
              <a:t>➡️ </a:t>
            </a:r>
            <a:r>
              <a:rPr lang="fr-FR" sz="2400" dirty="0"/>
              <a:t>Pour en savoir plus, analyser votre situation ou simuler votre passage :</a:t>
            </a:r>
            <a:br>
              <a:rPr lang="fr-FR" sz="2400" dirty="0"/>
            </a:br>
            <a:r>
              <a:rPr lang="fr-FR" sz="2400" b="1" dirty="0" err="1">
                <a:solidFill>
                  <a:srgbClr val="FFC000"/>
                </a:solidFill>
              </a:rPr>
              <a:t>RetraiteClair</a:t>
            </a:r>
            <a:r>
              <a:rPr lang="fr-FR" sz="2400" dirty="0"/>
              <a:t> (retraiteclair.onrender.com)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160" y="-4772"/>
            <a:ext cx="3690840" cy="686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841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93</TotalTime>
  <Words>119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Débloquez votre avenir ?</vt:lpstr>
      <vt:lpstr>la Retraite Progressive expliquée </vt:lpstr>
      <vt:lpstr>Une Transition Flexible et Humaine </vt:lpstr>
      <vt:lpstr>Les Avantages Clés </vt:lpstr>
      <vt:lpstr>Êtes-vous éligible ?</vt:lpstr>
      <vt:lpstr>Les Étapes Concrètes</vt:lpstr>
      <vt:lpstr>Réussir votre Transition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Débloquez votre avenir</dc:title>
  <dc:creator>LE PETIT Matthieu</dc:creator>
  <cp:lastModifiedBy>LE PETIT Matthieu</cp:lastModifiedBy>
  <cp:revision>8</cp:revision>
  <dcterms:created xsi:type="dcterms:W3CDTF">2025-11-28T14:48:41Z</dcterms:created>
  <dcterms:modified xsi:type="dcterms:W3CDTF">2025-11-28T16:22:40Z</dcterms:modified>
</cp:coreProperties>
</file>